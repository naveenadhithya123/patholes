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320040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60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MISSION • BBMP METRO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Urban Infrastructure &amp; Road Asset Monitoring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Computer Vision • 100 km/h Bumper LiDAR • 22m Spatial Deduplication • Traffic Triage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749040"/>
            <a:ext cx="237744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Computer Vision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3749040"/>
            <a:ext cx="237744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km/h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Sub-Bumper LiDAR Patrol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3749040"/>
            <a:ext cx="237744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Meters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3504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Deduplication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95360" y="3749040"/>
            <a:ext cx="237744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Less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9536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Inspection Cost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5212080"/>
            <a:ext cx="10332720" cy="822960"/>
          </a:xfrm>
          <a:prstGeom prst="roundRect">
            <a:avLst/>
          </a:prstGeom>
          <a:solidFill>
            <a:srgbClr val="111E3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3492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9: Industry, Innovation &amp; Infrastructure  |  SDG 11: Sustainable Cities &amp; Communities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Production: Vercel Cloud Serverless  |  Target Authority: BBMP Urban Infrastructure Group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Urban Infrastructure Crisis &amp; Economic Paralysis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Unmonitored road deterioration destroys vehicular assets, causes fatalities, and locks cities in congestion.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AI  |  Autonomous Smart City Infrastructure Monitoring  |  SDG 9 &amp; SDG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COMMAND 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2560320" cy="10972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145,000+ Accidents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Fatalities &amp; Road Hazards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Unmarked potholes, wall fractures, and bridge spalls cause fatal two-wheeler crashes and severe commuter injuries daily in Indian metropolitan centers.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645920"/>
            <a:ext cx="256032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145k PCU Bottlenecks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11880" y="2560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Gridlock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1880" y="32004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severe crater at high-density junctions like Silk Board slows average corridor speeds below 7 km/h, burning millions in lost productivity and fuel.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645920"/>
            <a:ext cx="2560320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Drop-Off Rate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2560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Citizen Reporting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32004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municipal apps demand manual logins, complex civil engineering dropdowns, and gallery uploads that encourage spam and fake AI images.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1645920"/>
            <a:ext cx="256032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900684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₹15,000 / km Survey Cost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06840" y="2560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Manual Audits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06840" y="32004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road surveys take weeks, suffer from human observer bias, and fail to track pavement degradation before complete structural failure occurs.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AI: Dual-Channel Autonomous Urban Monitoring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closed-loop cyber-physical system unifying citizen crowdsourcing with municipal vehicle fleets.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AI  |  Autonomous Smart City Infrastructure Monitoring  |  SDG 9 &amp; SDG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COMMAND 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920240"/>
            <a:ext cx="137160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65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Mobile Vision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Zero-install mobile web scanner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hardware camera (no gallery fakes)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real-time OpenCV reticle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depth, width, length estimation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W3C GPS geotagging
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920240"/>
            <a:ext cx="137160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965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2331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km/h Patrol Fleet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17720" y="292608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Sub-bumper LiDAR &amp; camera pod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1.2 ft height (below plate)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5-6 ft ahead of vehicle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Time-of-Flight telemetry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active vehicle swarm simulator
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920240"/>
            <a:ext cx="1371600" cy="274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1965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&amp; CONTROL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2331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Prioritization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92608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22-meter geospatial deduplication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login URL (/login only)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streaming columns (Fleet vs Citizen)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traffic-weighted triage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official BBMP work orders
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1: EDGE COMPUTING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Scanner: Zero Friction, Anti-Fraud Computer Vision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user error with 100% automated real-time boundary tracking and dimension extraction.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AI  |  Autonomous Smart City Infrastructure Monitoring  |  SDG 9 &amp; SDG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COMMAND 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030712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EDGE CAMERA HUD (60 FPS)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2286000"/>
            <a:ext cx="3108960" cy="2103120"/>
          </a:xfrm>
          <a:prstGeom prst="roundRect">
            <a:avLst/>
          </a:prstGeom>
          <a:solidFill>
            <a:srgbClr val="064E3B">
              <a:alpha val="25000"/>
            </a:srgbClr>
          </a:solidFill>
          <a:ln w="25400">
            <a:solidFill>
              <a:srgbClr val="10B981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463040" y="26517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AUTO-DETECTED: POTHOLE CAVITY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Depth: 8.2 cm  |  Width: 42 cm  |  Area: 0.28 m²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97.4% (Gemini Flash Model)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4663440"/>
            <a:ext cx="3657600" cy="5943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800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REPORT DEFECT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94960" y="1645920"/>
            <a:ext cx="603504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737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Hardware-Enforced Anti-Fraud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77840" y="202996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blocks photo gallery uploads to ensure authenticity. All images must be streamed directly through the live camera CMOS sensor, preventing fake or AI-generated image tampering.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2743200"/>
            <a:ext cx="603504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8346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Tagging Required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312724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reporting portals fail because citizens must categorize defects. Infra AI automatically identifies whether a defect is a Pothole, Wall Fracture, or Bridge Joint without any dropdown menus.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94960" y="3840480"/>
            <a:ext cx="603504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39319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Millisecond Geotagging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422452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GPS automatically queries high-accuracy latitude and longitude coordinates upon capture, pairing the spatial vector directly with municipal road segment data.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4937760"/>
            <a:ext cx="603504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50292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Citizen Gratification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532180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verified municipal complaint ticket (e.g. BBMP-2026-8921) with SLA deadline and confetti animations to drive viral civic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2: HIGHWAY PATROL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km/h Vehicle Sub-Bumper LiDAR &amp; Camera Telemetry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Sub-number-plate sensor pod scanning road conditions 5–6 ft ahead under real highway transit speeds.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AI  |  Autonomous Smart City Infrastructure Monitoring  |  SDG 9 &amp; SDG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COMMAND 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Number Plate (1.2 ft / 0.35m)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Position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– 6.0 ft Forward Lookahead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Horizon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km/h Continuous Ingestion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Patrol Speed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Hz Time-of-Flight Array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3252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Sampling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3474720" cy="2834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429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Vibration-Isolated Hardware Enclosure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0690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IP68 weather-sealed aluminum-polycarbonate casing mounted directly to the sub-bumper chassis. Uses hydraulic dampening pads to eliminate engine vibration jitter during high-speed arterial sweeps.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200400"/>
            <a:ext cx="3474720" cy="2834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429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10-Patrol Vehicle Swarm Simulation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0" y="40690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a municipality-wide sweep across Outer Ring Road, Hosur Road, and Airport Expressway. Streams speed, live coordinates, and ultrasonic depth profiles back to the central server every 500ms.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0" y="3200400"/>
            <a:ext cx="3474720" cy="2834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3429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Surface Degradation Flagging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83880" y="40690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automated spatial alerts whenever surface depth deflection exceeds 4.0 cm at speeds above 60 km/h, preventing sudden swerve crashes and high-speed axle damage.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CORE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Deduplication: The 22-Meter Haversine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duplicate work orders and converting redundant reports into verified community upvotes.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AI  |  Autonomous Smart City Infrastructure Monitoring  |  SDG 9 &amp; SDG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COMMAND 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Geodesic Distance Formula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606040"/>
            <a:ext cx="457200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889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sin²(Δφ/2) + cos φ₁ • cos φ₂ • sin²(Δλ/2)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2 • atan2( √a, √(1−a) 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R • c    (where R = 6,371,000 meters)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40233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Boundary: Exactly 22.0 meters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Calculated between report GPS and all active city tickets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Incorporates category matching (pothole vs crack vs spall)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Executes in &lt; 4 milliseconds per ingestion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530352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830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WITHIN 22 METERS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20299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Suppressed &amp; Upvoted (+1)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2377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suppresses creation of redundant municipal work orders.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Increments the "Community Verifications" counter (+1).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Boosts defect priority score due to multi-citizen confirmation.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Citizen is notified: "Defect already tracked! Your confirmation is logged."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931920"/>
            <a:ext cx="530352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0690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GREATER THAN 22 METERS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43159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Unique Incident Logged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4663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confirms zero prior incidents in the localized radius.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Triggers full Multimodal AI damage assessment.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Assigns official Ticket ID (e.g. BBMP-2026-7712).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Projects location onto nearest road asset and evaluates traffic PCU.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COMMAND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Command Center: Two Dedicated Live Feeds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accessible via /login URL to maintain administrative isolation from the public citizen portal.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AI  |  Autonomous Smart City Infrastructure Monitoring  |  SDG 9 &amp; SDG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COMMAND 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874520"/>
            <a:ext cx="4663440" cy="411480"/>
          </a:xfrm>
          <a:prstGeom prst="roundRect">
            <a:avLst/>
          </a:prstGeom>
          <a:solidFill>
            <a:srgbClr val="0833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65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1: 10-VEHICLE PATROL FLEET TELEMETRY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468880"/>
            <a:ext cx="46634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PATROL-04 • Outer Ring Road (82 km/h)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Now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2880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 (Depth 8.4cm) - SILK BOARD BOUND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3611880"/>
            <a:ext cx="46634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703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PATROL-01 • Airport Expressway (95 km/h)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3703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mins ago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4023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Joint Spall - FLYOVER PIER 14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4754880"/>
            <a:ext cx="46634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846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PATROL-08 • Hosur Arterial Road (64 km/h)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0" y="4846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mins ago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5166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Fracture - METRO PILLAR RETAINING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1874520"/>
            <a:ext cx="4663440" cy="41148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965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2: CITIZEN MANUAL PHOTO SUBMISSIONS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2468880"/>
            <a:ext cx="46634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BBMP-2026-9042 • Koramangala 80ft Road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Now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2880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(Priority 94)  |  7 Upvotes (Verified 22m cluster)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3611880"/>
            <a:ext cx="46634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3703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BBMP-2026-9038 • Indiranagar 100ft Road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75520" y="3703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mins ago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4023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(Priority 81)  |  14 Upvotes (Verified 22m cluster)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92240" y="4754880"/>
            <a:ext cx="46634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4846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BBMP-2026-9021 • HSR Layout Sector 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875520" y="4846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mins ago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29400" y="5166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(Priority 52)  |  3 Upvotes (Verified 22m cluster)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Prioritization: Traffic Density &amp; The Silk Board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economic bottlenecks by elevating high-volume arterials over deserted side alleys.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AI  |  Autonomous Smart City Infrastructure Monitoring  |  SDG 9 &amp; SDG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COMMAND 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PRIORITY ALGORITHM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0.35(T) + 0.25(D) + 0.15(A) + 0.15(C) + 0.10(V)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Density (T) [35%]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Arterial PCU/day (e.g. Silk Board 145,000)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Crater Depth (D) [25%]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3429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displacement risk (cm depth / area)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Age Expiration (A) [15%]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4023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exceeding 10-year design lifespan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617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Microclimate Volatility (C) [15%]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4617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precipitation &amp; thermal shock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5212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Upvotes (V) [10%]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5212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citizen confirmations within 22m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80E1E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THE SILK BOARD PRINCIPLE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2194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Physical Size Alone Is Misleading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2651760"/>
            <a:ext cx="4663440" cy="1371600"/>
          </a:xfrm>
          <a:prstGeom prst="roundRect">
            <a:avLst/>
          </a:prstGeom>
          <a:solidFill>
            <a:srgbClr val="2A1324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7432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Board Junction Flyover Approach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30175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145,000 PCU / day (Critical Arterial)  |  5 cm Depth (Moderate Pothole)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Causes 6 km tailback across 3 tech corridors. Infra AI elevates to SCORE: 96/100 (CRITICAL 24h SLA).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4206240"/>
            <a:ext cx="466344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4297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Dead-End Residential Sector Alley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45720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PCU / day (Local Cul-de-sac)  |  12 cm Depth (Large Pothole)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Affects very few commuters. Infra AI ranks as SCORE: 48/100 (MINOR 14-day SLA).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Asset Lifecycles &amp; Microclimate Volatility Radar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Transitioning urban maintenance from reactive emergency patches to proactive structural durability.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AI  |  Autonomous Smart City Infrastructure Monitoring  |  SDG 9 &amp; SDG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COMMAND 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&amp; BBMP HISTORICAL REGISTRY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Asset Lifecycle Expiration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97180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Evaluates road construction dates against standard 10-year design lifespans.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Automatically flags roads operating beyond year 10 with falling Pavement Condition Index (PCI &lt; 55).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Recommends complete structural resurfacing over temporary asphalt cold-mix patches.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&amp; THERMAL SHOCK ANOMALY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240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Microclimate Volatility Radar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97180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Maps Bangalore meteorological zones (Mahadevapura, Bommanahalli, South Zone).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Correlates severe monsoon water-logging history with asphalt bitumen stripping.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Automatically triggers preventative pre-monsoon inspections before rain washouts occur.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CONTRACTOR DISPATCH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83880" y="2240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Municipal Work Order Generator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3880" y="297180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 one-click printable official BBMP Work Orders (window.print()).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Includes unique ticket barcode, GPS satellite pins, contractor assignment, and SLA timer.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Verifiable legal paper trail for municipal accounting and tender transparency.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BLUEPRINT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Implementation, Feasibility &amp; Cloud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high-throughput, horizontally scalable serverless full-stack architecture.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AI  |  Autonomous Smart City Infrastructure Monitoring  |  SDG 9 &amp; SDG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COMMAND 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37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PRESENTATION &amp; CLIENT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Vite, Tailwind CSS 4, HTML5 Canvas 2D API, Leaflet GIS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99339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SPA bundle (&lt; 500 KB gzip). Renders 60 FPS visual reticles over live WebRTC video streams while maintaining sub-50ms interaction latency on standard mobile browsers.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80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CLOUD GATEWAY &amp; SERVERLESS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88036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 Edge, Node.js, Express.js REST Microservices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13639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execution handles sudden traffic spikes during city-wide storm events. Unified routing bridges frontend assets and serverless REST endpoints with zero cold-start penalty.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23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AI INFERENCE &amp; COMPUTER VISION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402336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Multimodal SDK + Edge Luminance Heuristics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27939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dual-tier inference: Rapid edge cavity contouring on client device; deep structural classification, repair cost estimation, and severity scoring processed asynchronously in the cloud.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66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GEOSPATIAL &amp; LIFECYCLE DATASTORE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516636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High Throughput JSON Store + Geo-Indexing Algorithms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542239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22m Haversine collision queries. Pre-seeded with 12 major Bangalore arterials, 100+ simulated municipal work orders, and IMD climate vulnerability tables.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ROI, Carbon Reduction &amp; UN SDG Alignment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cost-effective, high-impact civic technology delivering 92% operational savings.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AI  |  Autonomous Smart City Infrastructure Monitoring  |  SDG 9 &amp; SDG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COMMAND 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COST OPTIMIZATION (PER KM)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vs. Infra AI Economics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" y="2743200"/>
            <a:ext cx="4572000" cy="1280160"/>
          </a:xfrm>
          <a:prstGeom prst="roundRect">
            <a:avLst/>
          </a:prstGeom>
          <a:solidFill>
            <a:srgbClr val="2A1318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8803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Survey: ₹15,000 / km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physical engineering survey crew &amp; lane closures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inspection turnaround: 21 business days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Subjective, manual error-prone condition scoring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4206240"/>
            <a:ext cx="4572000" cy="1463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34340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AI Automated Inspection: &lt; ₹120 / km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patrol fleet &amp; passive citizen crowdsourcing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immediate defect detection (0-day turnaround)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92% direct operational expenditure reduction for BBMP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SUSTAINABLE DEVELOPMENT GOALS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2377440"/>
            <a:ext cx="4663440" cy="1554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9: Industry, Innovation &amp; Infrastructure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278892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Retrofits municipal transit with AI edge intelligence.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Shifts maintenance from catastrophic failure to predictive triage.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Extends pavement lifecycles through early micro-fracture repair.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4114800"/>
            <a:ext cx="4663440" cy="1554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2245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11: Sustainable Cities &amp; Communities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52628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Eliminates chronic bottleneck idling at major junction craters.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1,200+ tons of avoidable carbon emissions per corridor.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Provides inclusive, accessible civic participation for all citizens.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Urban Governance with Infra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3337560" cy="3200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031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60604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code deployed on Vercel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naveenadhithya123/patholes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mobile camera &amp; GPS verified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live streaming feeds operational
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828800"/>
            <a:ext cx="3337560" cy="3200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1031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Expansion Roadmap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60604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video inspection for flyover joints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payouts to asphalt contractors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monsoon flooding washaway radar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WhatsApp municipal bot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828800"/>
            <a:ext cx="3337560" cy="3200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1031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for BBMP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3880" y="260604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reduction in road survey costs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citizen friction (no app install/login)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traffic congestion triage
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on SDG 9 &amp; 11
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5303520"/>
            <a:ext cx="103784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5486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&amp; LIVE DEMONSTRATION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5806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Access: https://patholes.vercel.app  |  Admin Command: /login  |  BBMP Smart City Initiative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5577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DEPLOYED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Infra AI - Urban Infrastructure Monitoring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 AI - Autonomous Road Asset Monitoring System</dc:title>
  <dc:subject>PptxGenJS Presentation</dc:subject>
  <dc:creator>Infra AI Team / BBMP Smart City Initiative</dc:creator>
  <cp:lastModifiedBy>Infra AI Team / BBMP Smart City Initiative</cp:lastModifiedBy>
  <cp:revision>1</cp:revision>
  <dcterms:created xsi:type="dcterms:W3CDTF">2026-10-30T07:03:27Z</dcterms:created>
  <dcterms:modified xsi:type="dcterms:W3CDTF">2026-10-30T07:03:27Z</dcterms:modified>
</cp:coreProperties>
</file>